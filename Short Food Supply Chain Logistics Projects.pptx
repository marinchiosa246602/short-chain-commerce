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620"/>
  </p:normalViewPr>
  <p:slideViewPr>
    <p:cSldViewPr snapToGrid="0">
      <p:cViewPr varScale="1">
        <p:scale>
          <a:sx n="57" d="100"/>
          <a:sy n="57" d="100"/>
        </p:scale>
        <p:origin x="90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e, Peter" userId="6610737f-b2df-4936-8f13-5c56e190df01" providerId="ADAL" clId="{9403AE19-D512-4F19-8B0C-589C80E3E020}"/>
    <pc:docChg chg="custSel modSld">
      <pc:chgData name="Kole, Peter" userId="6610737f-b2df-4936-8f13-5c56e190df01" providerId="ADAL" clId="{9403AE19-D512-4F19-8B0C-589C80E3E020}" dt="2026-03-16T15:59:15.337" v="150" actId="20577"/>
      <pc:docMkLst>
        <pc:docMk/>
      </pc:docMkLst>
      <pc:sldChg chg="modSp mod">
        <pc:chgData name="Kole, Peter" userId="6610737f-b2df-4936-8f13-5c56e190df01" providerId="ADAL" clId="{9403AE19-D512-4F19-8B0C-589C80E3E020}" dt="2026-03-16T13:27:01.924" v="133" actId="1035"/>
        <pc:sldMkLst>
          <pc:docMk/>
          <pc:sldMk cId="2159035823" sldId="256"/>
        </pc:sldMkLst>
        <pc:spChg chg="mod">
          <ac:chgData name="Kole, Peter" userId="6610737f-b2df-4936-8f13-5c56e190df01" providerId="ADAL" clId="{9403AE19-D512-4F19-8B0C-589C80E3E020}" dt="2026-03-16T13:27:01.924" v="133" actId="1035"/>
          <ac:spMkLst>
            <pc:docMk/>
            <pc:sldMk cId="2159035823" sldId="256"/>
            <ac:spMk id="12" creationId="{C917F1DF-AB8E-3EDF-C3B7-A10404ADFFC7}"/>
          </ac:spMkLst>
        </pc:spChg>
      </pc:sldChg>
      <pc:sldChg chg="modSp mod">
        <pc:chgData name="Kole, Peter" userId="6610737f-b2df-4936-8f13-5c56e190df01" providerId="ADAL" clId="{9403AE19-D512-4F19-8B0C-589C80E3E020}" dt="2026-03-16T15:59:15.337" v="150" actId="20577"/>
        <pc:sldMkLst>
          <pc:docMk/>
          <pc:sldMk cId="2863893435" sldId="259"/>
        </pc:sldMkLst>
        <pc:spChg chg="mod">
          <ac:chgData name="Kole, Peter" userId="6610737f-b2df-4936-8f13-5c56e190df01" providerId="ADAL" clId="{9403AE19-D512-4F19-8B0C-589C80E3E020}" dt="2026-03-16T15:59:15.337" v="150" actId="20577"/>
          <ac:spMkLst>
            <pc:docMk/>
            <pc:sldMk cId="2863893435" sldId="259"/>
            <ac:spMk id="6" creationId="{CE054AC7-F90A-14A5-EF4C-ECD751B9F497}"/>
          </ac:spMkLst>
        </pc:spChg>
      </pc:sldChg>
      <pc:sldChg chg="delSp modSp mod">
        <pc:chgData name="Kole, Peter" userId="6610737f-b2df-4936-8f13-5c56e190df01" providerId="ADAL" clId="{9403AE19-D512-4F19-8B0C-589C80E3E020}" dt="2026-03-16T13:21:37.199" v="122" actId="20577"/>
        <pc:sldMkLst>
          <pc:docMk/>
          <pc:sldMk cId="1469003923" sldId="260"/>
        </pc:sldMkLst>
        <pc:spChg chg="mod">
          <ac:chgData name="Kole, Peter" userId="6610737f-b2df-4936-8f13-5c56e190df01" providerId="ADAL" clId="{9403AE19-D512-4F19-8B0C-589C80E3E020}" dt="2026-03-16T13:21:17.257" v="101" actId="20577"/>
          <ac:spMkLst>
            <pc:docMk/>
            <pc:sldMk cId="1469003923" sldId="260"/>
            <ac:spMk id="5" creationId="{1A6DF427-5CBD-F910-6612-C4ABA99FC902}"/>
          </ac:spMkLst>
        </pc:spChg>
        <pc:spChg chg="mod">
          <ac:chgData name="Kole, Peter" userId="6610737f-b2df-4936-8f13-5c56e190df01" providerId="ADAL" clId="{9403AE19-D512-4F19-8B0C-589C80E3E020}" dt="2026-03-16T13:21:37.199" v="122" actId="20577"/>
          <ac:spMkLst>
            <pc:docMk/>
            <pc:sldMk cId="1469003923" sldId="260"/>
            <ac:spMk id="6" creationId="{96BB8EF1-34D3-365F-B241-18202B4FEC06}"/>
          </ac:spMkLst>
        </pc:spChg>
        <pc:spChg chg="del">
          <ac:chgData name="Kole, Peter" userId="6610737f-b2df-4936-8f13-5c56e190df01" providerId="ADAL" clId="{9403AE19-D512-4F19-8B0C-589C80E3E020}" dt="2026-03-16T13:21:24.749" v="102" actId="478"/>
          <ac:spMkLst>
            <pc:docMk/>
            <pc:sldMk cId="1469003923" sldId="260"/>
            <ac:spMk id="9" creationId="{F10CCE26-CC02-534E-A7B1-0691CEB4B85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65F8D-79CD-24C8-DDBF-242A23E7BD3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L"/>
          </a:p>
        </p:txBody>
      </p:sp>
      <p:sp>
        <p:nvSpPr>
          <p:cNvPr id="3" name="Subtitle 2">
            <a:extLst>
              <a:ext uri="{FF2B5EF4-FFF2-40B4-BE49-F238E27FC236}">
                <a16:creationId xmlns:a16="http://schemas.microsoft.com/office/drawing/2014/main" id="{814EA4D6-7990-C782-C20A-9A79CB289F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L"/>
          </a:p>
        </p:txBody>
      </p:sp>
      <p:sp>
        <p:nvSpPr>
          <p:cNvPr id="4" name="Date Placeholder 3">
            <a:extLst>
              <a:ext uri="{FF2B5EF4-FFF2-40B4-BE49-F238E27FC236}">
                <a16:creationId xmlns:a16="http://schemas.microsoft.com/office/drawing/2014/main" id="{BE6EF181-B2F2-AB8F-EE64-EA3F72EDC90E}"/>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5" name="Footer Placeholder 4">
            <a:extLst>
              <a:ext uri="{FF2B5EF4-FFF2-40B4-BE49-F238E27FC236}">
                <a16:creationId xmlns:a16="http://schemas.microsoft.com/office/drawing/2014/main" id="{DE50A6C6-CDE1-1FAD-FAD2-514BB0FD014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84A31AA-6DFB-95AD-5BB5-76C460B55B65}"/>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1446477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CBC6A-1CFC-6456-5DCA-14AE128E9F39}"/>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67BC4454-07BC-9FB8-EFF1-3D8FE2EA18A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B0F8EB3A-2498-0222-2BFB-2FAAB3104073}"/>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5" name="Footer Placeholder 4">
            <a:extLst>
              <a:ext uri="{FF2B5EF4-FFF2-40B4-BE49-F238E27FC236}">
                <a16:creationId xmlns:a16="http://schemas.microsoft.com/office/drawing/2014/main" id="{AC3F2069-84B0-1129-C7BA-BFFAD1637CC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E176B82-2A2C-89E9-10CF-8BD7DBB93FDC}"/>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837874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ED8C-5735-656F-417A-7748457E25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L"/>
          </a:p>
        </p:txBody>
      </p:sp>
      <p:sp>
        <p:nvSpPr>
          <p:cNvPr id="3" name="Text Placeholder 2">
            <a:extLst>
              <a:ext uri="{FF2B5EF4-FFF2-40B4-BE49-F238E27FC236}">
                <a16:creationId xmlns:a16="http://schemas.microsoft.com/office/drawing/2014/main" id="{053BFF4B-ED93-FA30-F7DC-49160DD8C6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79F3509-F6F9-638F-0D1E-7285C927AF96}"/>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5" name="Footer Placeholder 4">
            <a:extLst>
              <a:ext uri="{FF2B5EF4-FFF2-40B4-BE49-F238E27FC236}">
                <a16:creationId xmlns:a16="http://schemas.microsoft.com/office/drawing/2014/main" id="{C85B2F3D-1F4A-A9DE-155A-FB7CB4682D9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ADBC7D6-16E2-293F-A892-2B9871A2B9A6}"/>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4144163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6FC6-0F10-980F-CF62-F93FC67C1F59}"/>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A1AEC29F-EE97-366A-09F7-EF1DFCAEC5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Content Placeholder 3">
            <a:extLst>
              <a:ext uri="{FF2B5EF4-FFF2-40B4-BE49-F238E27FC236}">
                <a16:creationId xmlns:a16="http://schemas.microsoft.com/office/drawing/2014/main" id="{310B47D7-232F-AD59-5A50-1098CD6167D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Date Placeholder 4">
            <a:extLst>
              <a:ext uri="{FF2B5EF4-FFF2-40B4-BE49-F238E27FC236}">
                <a16:creationId xmlns:a16="http://schemas.microsoft.com/office/drawing/2014/main" id="{34CCED84-7382-2D5C-C0E6-BAC091BA6316}"/>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6" name="Footer Placeholder 5">
            <a:extLst>
              <a:ext uri="{FF2B5EF4-FFF2-40B4-BE49-F238E27FC236}">
                <a16:creationId xmlns:a16="http://schemas.microsoft.com/office/drawing/2014/main" id="{12F46646-B725-803D-5746-AB72A5F2600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75A5E6E5-0A08-29A1-CAA2-C01FCD3913A0}"/>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155118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E91C8-904D-FC00-6F13-8F38316F1110}"/>
              </a:ext>
            </a:extLst>
          </p:cNvPr>
          <p:cNvSpPr>
            <a:spLocks noGrp="1"/>
          </p:cNvSpPr>
          <p:nvPr>
            <p:ph type="title"/>
          </p:nvPr>
        </p:nvSpPr>
        <p:spPr>
          <a:xfrm>
            <a:off x="839788" y="365125"/>
            <a:ext cx="10515600" cy="1325563"/>
          </a:xfrm>
        </p:spPr>
        <p:txBody>
          <a:bodyPr/>
          <a:lstStyle/>
          <a:p>
            <a:r>
              <a:rPr lang="en-GB"/>
              <a:t>Click to edit Master title style</a:t>
            </a:r>
            <a:endParaRPr lang="en-NL"/>
          </a:p>
        </p:txBody>
      </p:sp>
      <p:sp>
        <p:nvSpPr>
          <p:cNvPr id="3" name="Text Placeholder 2">
            <a:extLst>
              <a:ext uri="{FF2B5EF4-FFF2-40B4-BE49-F238E27FC236}">
                <a16:creationId xmlns:a16="http://schemas.microsoft.com/office/drawing/2014/main" id="{4C698A69-7862-FF19-B5D5-BA8B0E01D7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112468C-A574-3BD1-4169-504D36B738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Text Placeholder 4">
            <a:extLst>
              <a:ext uri="{FF2B5EF4-FFF2-40B4-BE49-F238E27FC236}">
                <a16:creationId xmlns:a16="http://schemas.microsoft.com/office/drawing/2014/main" id="{16E69983-F1AF-E4CE-93BB-E09F0E502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E5BAE5B-08DC-C554-68FA-3EAFBA338A1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7" name="Date Placeholder 6">
            <a:extLst>
              <a:ext uri="{FF2B5EF4-FFF2-40B4-BE49-F238E27FC236}">
                <a16:creationId xmlns:a16="http://schemas.microsoft.com/office/drawing/2014/main" id="{84DB1782-2E42-3813-9AC1-495591BD9819}"/>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8" name="Footer Placeholder 7">
            <a:extLst>
              <a:ext uri="{FF2B5EF4-FFF2-40B4-BE49-F238E27FC236}">
                <a16:creationId xmlns:a16="http://schemas.microsoft.com/office/drawing/2014/main" id="{256C2A63-B35B-5FC2-3432-A5D83DF3D487}"/>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14F68CCE-C7FA-8787-0206-9C34AB4B0584}"/>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1960386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70EDC-7C63-2C2D-A822-C24114BB1BDC}"/>
              </a:ext>
            </a:extLst>
          </p:cNvPr>
          <p:cNvSpPr>
            <a:spLocks noGrp="1"/>
          </p:cNvSpPr>
          <p:nvPr>
            <p:ph type="title"/>
          </p:nvPr>
        </p:nvSpPr>
        <p:spPr/>
        <p:txBody>
          <a:bodyPr/>
          <a:lstStyle/>
          <a:p>
            <a:r>
              <a:rPr lang="en-GB"/>
              <a:t>Click to edit Master title style</a:t>
            </a:r>
            <a:endParaRPr lang="en-NL"/>
          </a:p>
        </p:txBody>
      </p:sp>
      <p:sp>
        <p:nvSpPr>
          <p:cNvPr id="3" name="Date Placeholder 2">
            <a:extLst>
              <a:ext uri="{FF2B5EF4-FFF2-40B4-BE49-F238E27FC236}">
                <a16:creationId xmlns:a16="http://schemas.microsoft.com/office/drawing/2014/main" id="{CD7193C4-B76D-C952-325B-A273E16C7EC1}"/>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4" name="Footer Placeholder 3">
            <a:extLst>
              <a:ext uri="{FF2B5EF4-FFF2-40B4-BE49-F238E27FC236}">
                <a16:creationId xmlns:a16="http://schemas.microsoft.com/office/drawing/2014/main" id="{57FB188C-3085-5FCA-7233-822C0CEFE8C3}"/>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0A1953-9603-8D0E-1F70-091B79727EBB}"/>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1429057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955358-CB4B-37EE-A8E0-55E5F6108F09}"/>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3" name="Footer Placeholder 2">
            <a:extLst>
              <a:ext uri="{FF2B5EF4-FFF2-40B4-BE49-F238E27FC236}">
                <a16:creationId xmlns:a16="http://schemas.microsoft.com/office/drawing/2014/main" id="{59C1E789-518C-8795-C1FE-7EACD4FE358A}"/>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9C477CC8-05D6-CB4B-7B4A-3B3CFF016284}"/>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2301812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CE60-BA9C-246A-0241-B14B3880310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Content Placeholder 2">
            <a:extLst>
              <a:ext uri="{FF2B5EF4-FFF2-40B4-BE49-F238E27FC236}">
                <a16:creationId xmlns:a16="http://schemas.microsoft.com/office/drawing/2014/main" id="{3F3829A1-A343-FC8C-CA58-E67F8B37A8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Text Placeholder 3">
            <a:extLst>
              <a:ext uri="{FF2B5EF4-FFF2-40B4-BE49-F238E27FC236}">
                <a16:creationId xmlns:a16="http://schemas.microsoft.com/office/drawing/2014/main" id="{428EB1CF-A9F5-FE30-6E86-01A8C1125C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DC15989-E314-6E07-163F-919B2FFD1D67}"/>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6" name="Footer Placeholder 5">
            <a:extLst>
              <a:ext uri="{FF2B5EF4-FFF2-40B4-BE49-F238E27FC236}">
                <a16:creationId xmlns:a16="http://schemas.microsoft.com/office/drawing/2014/main" id="{1D7DA1F9-3B0B-03E6-41A4-2D02236D7DE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460959AE-28D8-C0E8-621B-2466FA0C057E}"/>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3510570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F75E-C3CE-1A29-699C-07C20794318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Picture Placeholder 2">
            <a:extLst>
              <a:ext uri="{FF2B5EF4-FFF2-40B4-BE49-F238E27FC236}">
                <a16:creationId xmlns:a16="http://schemas.microsoft.com/office/drawing/2014/main" id="{B0CDE569-2263-2693-F4A9-A662112BB2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FB5C452D-8E41-642B-A52F-ADA1DDDFEB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5FD4C1-C84F-63D8-DB73-EC27EE18C2DF}"/>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6" name="Footer Placeholder 5">
            <a:extLst>
              <a:ext uri="{FF2B5EF4-FFF2-40B4-BE49-F238E27FC236}">
                <a16:creationId xmlns:a16="http://schemas.microsoft.com/office/drawing/2014/main" id="{9E93BF66-2810-F01A-A485-FEECBD2AA6D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15875EA-DE18-5129-FBC8-5E6F10E43163}"/>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1865634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9385C-7C44-418C-E919-532A90BAF595}"/>
              </a:ext>
            </a:extLst>
          </p:cNvPr>
          <p:cNvSpPr>
            <a:spLocks noGrp="1"/>
          </p:cNvSpPr>
          <p:nvPr>
            <p:ph type="title"/>
          </p:nvPr>
        </p:nvSpPr>
        <p:spPr/>
        <p:txBody>
          <a:bodyPr/>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150948F1-20C6-0F86-B6A2-D34AFED269A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B6323672-C80F-6756-DBC0-76A7190963A2}"/>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5" name="Footer Placeholder 4">
            <a:extLst>
              <a:ext uri="{FF2B5EF4-FFF2-40B4-BE49-F238E27FC236}">
                <a16:creationId xmlns:a16="http://schemas.microsoft.com/office/drawing/2014/main" id="{EC2E672D-05A4-7303-9690-78F8B6FF115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4671148-4576-C9CF-FA21-9D78F9D441E3}"/>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2644045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888D01-2A26-203B-4DFF-1CEDFC7B195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F3E45B35-3E5B-5634-10E1-943AE6E8212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44B25D4C-A504-6CE0-48BB-73961AA3D93C}"/>
              </a:ext>
            </a:extLst>
          </p:cNvPr>
          <p:cNvSpPr>
            <a:spLocks noGrp="1"/>
          </p:cNvSpPr>
          <p:nvPr>
            <p:ph type="dt" sz="half" idx="10"/>
          </p:nvPr>
        </p:nvSpPr>
        <p:spPr/>
        <p:txBody>
          <a:bodyPr/>
          <a:lstStyle/>
          <a:p>
            <a:fld id="{A965DC04-F6E9-2345-8C48-9AB6BBC9C3F1}" type="datetimeFigureOut">
              <a:rPr lang="en-NL" smtClean="0"/>
              <a:t>03/16/2026</a:t>
            </a:fld>
            <a:endParaRPr lang="en-NL"/>
          </a:p>
        </p:txBody>
      </p:sp>
      <p:sp>
        <p:nvSpPr>
          <p:cNvPr id="5" name="Footer Placeholder 4">
            <a:extLst>
              <a:ext uri="{FF2B5EF4-FFF2-40B4-BE49-F238E27FC236}">
                <a16:creationId xmlns:a16="http://schemas.microsoft.com/office/drawing/2014/main" id="{5422665C-F13B-1222-52A3-8BCF42B46E0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7C68CE-4DD4-C81A-33A9-86A4B98893F9}"/>
              </a:ext>
            </a:extLst>
          </p:cNvPr>
          <p:cNvSpPr>
            <a:spLocks noGrp="1"/>
          </p:cNvSpPr>
          <p:nvPr>
            <p:ph type="sldNum" sz="quarter" idx="12"/>
          </p:nvPr>
        </p:nvSpPr>
        <p:spPr/>
        <p:txBody>
          <a:bodyPr/>
          <a:lstStyle/>
          <a:p>
            <a:fld id="{2D8828D4-4B00-784F-B3B0-62533AE56432}" type="slidenum">
              <a:rPr lang="en-NL" smtClean="0"/>
              <a:t>‹#›</a:t>
            </a:fld>
            <a:endParaRPr lang="en-NL"/>
          </a:p>
        </p:txBody>
      </p:sp>
    </p:spTree>
    <p:extLst>
      <p:ext uri="{BB962C8B-B14F-4D97-AF65-F5344CB8AC3E}">
        <p14:creationId xmlns:p14="http://schemas.microsoft.com/office/powerpoint/2010/main" val="2042842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C37714-6047-E7FA-FECC-4BCE6B3913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L"/>
          </a:p>
        </p:txBody>
      </p:sp>
      <p:sp>
        <p:nvSpPr>
          <p:cNvPr id="3" name="Text Placeholder 2">
            <a:extLst>
              <a:ext uri="{FF2B5EF4-FFF2-40B4-BE49-F238E27FC236}">
                <a16:creationId xmlns:a16="http://schemas.microsoft.com/office/drawing/2014/main" id="{D8527065-462E-AEAB-08AF-63D5DFB8AA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A6E8DF86-C55A-3AC0-2C55-834A3A5F7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65DC04-F6E9-2345-8C48-9AB6BBC9C3F1}" type="datetimeFigureOut">
              <a:rPr lang="en-NL" smtClean="0"/>
              <a:t>03/16/2026</a:t>
            </a:fld>
            <a:endParaRPr lang="en-NL"/>
          </a:p>
        </p:txBody>
      </p:sp>
      <p:sp>
        <p:nvSpPr>
          <p:cNvPr id="5" name="Footer Placeholder 4">
            <a:extLst>
              <a:ext uri="{FF2B5EF4-FFF2-40B4-BE49-F238E27FC236}">
                <a16:creationId xmlns:a16="http://schemas.microsoft.com/office/drawing/2014/main" id="{B009B0D7-C9D7-D52D-31F4-B594DDDF9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BAA6F10-6BBB-0C08-880F-C23D115941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8828D4-4B00-784F-B3B0-62533AE56432}" type="slidenum">
              <a:rPr lang="en-NL" smtClean="0"/>
              <a:t>‹#›</a:t>
            </a:fld>
            <a:endParaRPr lang="en-NL"/>
          </a:p>
        </p:txBody>
      </p:sp>
    </p:spTree>
    <p:extLst>
      <p:ext uri="{BB962C8B-B14F-4D97-AF65-F5344CB8AC3E}">
        <p14:creationId xmlns:p14="http://schemas.microsoft.com/office/powerpoint/2010/main" val="1492494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D36F0A-6EEC-8A4F-66DC-2EBEF37234CC}"/>
              </a:ext>
            </a:extLst>
          </p:cNvPr>
          <p:cNvSpPr txBox="1"/>
          <p:nvPr/>
        </p:nvSpPr>
        <p:spPr>
          <a:xfrm>
            <a:off x="1024751" y="807430"/>
            <a:ext cx="9058939" cy="1477328"/>
          </a:xfrm>
          <a:prstGeom prst="rect">
            <a:avLst/>
          </a:prstGeom>
          <a:noFill/>
        </p:spPr>
        <p:txBody>
          <a:bodyPr wrap="square" rtlCol="0">
            <a:spAutoFit/>
          </a:bodyPr>
          <a:lstStyle/>
          <a:p>
            <a:pPr algn="just"/>
            <a:endParaRPr lang="en-NL" b="1" dirty="0"/>
          </a:p>
          <a:p>
            <a:pPr algn="just"/>
            <a:r>
              <a:rPr lang="en-GB" b="1" dirty="0"/>
              <a:t>In short: This project explores how images of food, storage, and transport can be used to automatically generate logistics data to support efficient short food supply chains</a:t>
            </a:r>
          </a:p>
          <a:p>
            <a:pPr algn="just"/>
            <a:endParaRPr lang="en-GB" b="1" dirty="0"/>
          </a:p>
          <a:p>
            <a:pPr algn="just"/>
            <a:endParaRPr lang="en-GB" dirty="0"/>
          </a:p>
        </p:txBody>
      </p:sp>
      <p:sp>
        <p:nvSpPr>
          <p:cNvPr id="6" name="TextBox 5">
            <a:extLst>
              <a:ext uri="{FF2B5EF4-FFF2-40B4-BE49-F238E27FC236}">
                <a16:creationId xmlns:a16="http://schemas.microsoft.com/office/drawing/2014/main" id="{AB2000CB-6994-C752-F0F8-D222B837AEDE}"/>
              </a:ext>
            </a:extLst>
          </p:cNvPr>
          <p:cNvSpPr txBox="1"/>
          <p:nvPr/>
        </p:nvSpPr>
        <p:spPr>
          <a:xfrm>
            <a:off x="1024751" y="304362"/>
            <a:ext cx="10372063" cy="954107"/>
          </a:xfrm>
          <a:prstGeom prst="rect">
            <a:avLst/>
          </a:prstGeom>
          <a:noFill/>
        </p:spPr>
        <p:txBody>
          <a:bodyPr wrap="square" rtlCol="0">
            <a:spAutoFit/>
          </a:bodyPr>
          <a:lstStyle/>
          <a:p>
            <a:r>
              <a:rPr lang="en-US" sz="2800" dirty="0"/>
              <a:t>Project 1 - Automatic Logistics Data Generation from Visual Inputs</a:t>
            </a:r>
          </a:p>
          <a:p>
            <a:endParaRPr lang="en-NL" sz="2800" dirty="0"/>
          </a:p>
        </p:txBody>
      </p:sp>
      <p:cxnSp>
        <p:nvCxnSpPr>
          <p:cNvPr id="8" name="Straight Connector 7">
            <a:extLst>
              <a:ext uri="{FF2B5EF4-FFF2-40B4-BE49-F238E27FC236}">
                <a16:creationId xmlns:a16="http://schemas.microsoft.com/office/drawing/2014/main" id="{FCEAF956-5FE3-16C6-22F7-892BB95B1879}"/>
              </a:ext>
            </a:extLst>
          </p:cNvPr>
          <p:cNvCxnSpPr>
            <a:cxnSpLocks/>
          </p:cNvCxnSpPr>
          <p:nvPr/>
        </p:nvCxnSpPr>
        <p:spPr>
          <a:xfrm>
            <a:off x="1082749" y="963827"/>
            <a:ext cx="10026502" cy="0"/>
          </a:xfrm>
          <a:prstGeom prst="line">
            <a:avLst/>
          </a:prstGeom>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459EF6C8-EACC-7F33-05C8-D6E51F394D7C}"/>
              </a:ext>
            </a:extLst>
          </p:cNvPr>
          <p:cNvSpPr txBox="1"/>
          <p:nvPr/>
        </p:nvSpPr>
        <p:spPr>
          <a:xfrm>
            <a:off x="1024751" y="1762266"/>
            <a:ext cx="9058939" cy="4247317"/>
          </a:xfrm>
          <a:prstGeom prst="rect">
            <a:avLst/>
          </a:prstGeom>
          <a:noFill/>
        </p:spPr>
        <p:txBody>
          <a:bodyPr wrap="square" rtlCol="0">
            <a:spAutoFit/>
          </a:bodyPr>
          <a:lstStyle/>
          <a:p>
            <a:pPr algn="just"/>
            <a:r>
              <a:rPr lang="en-US" sz="1400" dirty="0"/>
              <a:t>Context: “In short food supply chains Logistical data is mostly lacking. So organizing, managing, improving such supply chains in an efficient, effective and sustainable way is very difficult or even impossible. Question is if there are opportunities to generate data, other than manual input? So, is it possible or how to generate all necessary (logistics) data from pictures, characters and/or other visual inputs and how to make this available for all users/stakeholders in such a way that it can be used to stir/manage short food supply chains from different local farmers with different products (and therefore different logistics needs as well) to a variety of local consumers? All of these in a way that users are not actively bothered to collect these data, so automatically in a way, without even noticing it……. If we could realize this, then we would have a possible critical turning point in the organization, profitability and therefore viability of short food supply chains initiatives as a whole.”</a:t>
            </a:r>
            <a:endParaRPr lang="en-NL" sz="1400" dirty="0"/>
          </a:p>
          <a:p>
            <a:pPr algn="just"/>
            <a:endParaRPr lang="en-US" dirty="0"/>
          </a:p>
          <a:p>
            <a:pPr algn="just"/>
            <a:r>
              <a:rPr lang="en-US" dirty="0"/>
              <a:t>Remarks:</a:t>
            </a:r>
          </a:p>
          <a:p>
            <a:pPr marL="285750" indent="-285750" algn="just">
              <a:buFont typeface="Arial" panose="020B0604020202020204" pitchFamily="34" charset="0"/>
              <a:buChar char="•"/>
            </a:pPr>
            <a:r>
              <a:rPr lang="en-US" dirty="0"/>
              <a:t>Mention yield estimation project </a:t>
            </a:r>
          </a:p>
          <a:p>
            <a:pPr marL="285750" indent="-285750" algn="just">
              <a:buFont typeface="Arial" panose="020B0604020202020204" pitchFamily="34" charset="0"/>
              <a:buChar char="•"/>
            </a:pPr>
            <a:r>
              <a:rPr lang="en-US" dirty="0"/>
              <a:t>Still need a targeted application </a:t>
            </a:r>
          </a:p>
          <a:p>
            <a:pPr marL="285750" indent="-285750" algn="just">
              <a:buFont typeface="Arial" panose="020B0604020202020204" pitchFamily="34" charset="0"/>
              <a:buChar char="•"/>
            </a:pPr>
            <a:r>
              <a:rPr lang="en-US" dirty="0"/>
              <a:t>Mock or historical data would be sufficient </a:t>
            </a:r>
          </a:p>
          <a:p>
            <a:pPr algn="just"/>
            <a:r>
              <a:rPr lang="en-US" dirty="0"/>
              <a:t>      for proof of concept.</a:t>
            </a:r>
          </a:p>
          <a:p>
            <a:pPr marL="285750" indent="-285750" algn="just">
              <a:buFont typeface="Arial" panose="020B0604020202020204" pitchFamily="34" charset="0"/>
              <a:buChar char="•"/>
            </a:pPr>
            <a:r>
              <a:rPr lang="en-US" dirty="0"/>
              <a:t>Need base features and then advanced features </a:t>
            </a:r>
          </a:p>
          <a:p>
            <a:pPr marL="285750" indent="-285750" algn="just">
              <a:buFont typeface="Arial" panose="020B0604020202020204" pitchFamily="34" charset="0"/>
              <a:buChar char="•"/>
            </a:pPr>
            <a:endParaRPr lang="en-NL" dirty="0"/>
          </a:p>
        </p:txBody>
      </p:sp>
      <p:sp>
        <p:nvSpPr>
          <p:cNvPr id="11" name="TextBox 10">
            <a:extLst>
              <a:ext uri="{FF2B5EF4-FFF2-40B4-BE49-F238E27FC236}">
                <a16:creationId xmlns:a16="http://schemas.microsoft.com/office/drawing/2014/main" id="{DB62B478-2DDE-93CC-8299-54A432128FE8}"/>
              </a:ext>
            </a:extLst>
          </p:cNvPr>
          <p:cNvSpPr txBox="1"/>
          <p:nvPr/>
        </p:nvSpPr>
        <p:spPr>
          <a:xfrm>
            <a:off x="7218817" y="5901484"/>
            <a:ext cx="184731" cy="369332"/>
          </a:xfrm>
          <a:prstGeom prst="rect">
            <a:avLst/>
          </a:prstGeom>
          <a:noFill/>
        </p:spPr>
        <p:txBody>
          <a:bodyPr wrap="none" rtlCol="0">
            <a:spAutoFit/>
          </a:bodyPr>
          <a:lstStyle/>
          <a:p>
            <a:endParaRPr lang="en-NL" dirty="0"/>
          </a:p>
        </p:txBody>
      </p:sp>
      <p:sp>
        <p:nvSpPr>
          <p:cNvPr id="12" name="TextBox 11">
            <a:extLst>
              <a:ext uri="{FF2B5EF4-FFF2-40B4-BE49-F238E27FC236}">
                <a16:creationId xmlns:a16="http://schemas.microsoft.com/office/drawing/2014/main" id="{C917F1DF-AB8E-3EDF-C3B7-A10404ADFFC7}"/>
              </a:ext>
            </a:extLst>
          </p:cNvPr>
          <p:cNvSpPr txBox="1"/>
          <p:nvPr/>
        </p:nvSpPr>
        <p:spPr>
          <a:xfrm>
            <a:off x="6676533" y="4065262"/>
            <a:ext cx="4720281" cy="18928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mj-lt"/>
              <a:buAutoNum type="arabicPeriod"/>
            </a:pPr>
            <a:r>
              <a:rPr lang="en-GB" sz="1300" dirty="0"/>
              <a:t>Capture images of food crates and products</a:t>
            </a:r>
          </a:p>
          <a:p>
            <a:pPr marL="342900" indent="-342900">
              <a:buFont typeface="+mj-lt"/>
              <a:buAutoNum type="arabicPeriod"/>
            </a:pPr>
            <a:r>
              <a:rPr lang="en-GB" sz="1300" dirty="0"/>
              <a:t>Apply AI models to:</a:t>
            </a:r>
          </a:p>
          <a:p>
            <a:pPr marL="800100" lvl="1" indent="-342900">
              <a:buFont typeface="+mj-lt"/>
              <a:buAutoNum type="arabicPeriod"/>
            </a:pPr>
            <a:r>
              <a:rPr lang="en-GB" sz="1300" dirty="0"/>
              <a:t>Detect and classify objects Count items automatically</a:t>
            </a:r>
          </a:p>
          <a:p>
            <a:pPr marL="800100" lvl="1" indent="-342900">
              <a:buFont typeface="+mj-lt"/>
              <a:buAutoNum type="arabicPeriod"/>
            </a:pPr>
            <a:r>
              <a:rPr lang="en-GB" sz="1300" dirty="0"/>
              <a:t>Extract text such as labels and expiry dates using OCR Convert visual outputs into structured logistics data (e.g., JSON or database records)</a:t>
            </a:r>
          </a:p>
          <a:p>
            <a:pPr marL="342900" indent="-342900">
              <a:buFont typeface="+mj-lt"/>
              <a:buAutoNum type="arabicPeriod"/>
            </a:pPr>
            <a:r>
              <a:rPr lang="en-GB" sz="1300" dirty="0"/>
              <a:t>Visualize the processed data in a simple, user-friendly dashboard</a:t>
            </a:r>
          </a:p>
        </p:txBody>
      </p:sp>
      <p:cxnSp>
        <p:nvCxnSpPr>
          <p:cNvPr id="14" name="Straight Arrow Connector 13">
            <a:extLst>
              <a:ext uri="{FF2B5EF4-FFF2-40B4-BE49-F238E27FC236}">
                <a16:creationId xmlns:a16="http://schemas.microsoft.com/office/drawing/2014/main" id="{CE5C64D7-7420-B411-7ABD-322DA996AA3A}"/>
              </a:ext>
            </a:extLst>
          </p:cNvPr>
          <p:cNvCxnSpPr/>
          <p:nvPr/>
        </p:nvCxnSpPr>
        <p:spPr>
          <a:xfrm>
            <a:off x="5722572" y="5042024"/>
            <a:ext cx="953961"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59035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6CCD-6D84-2629-7D52-5FF487ED01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E5AA5F2-2755-90AB-787E-6EE606379AE8}"/>
              </a:ext>
            </a:extLst>
          </p:cNvPr>
          <p:cNvSpPr txBox="1"/>
          <p:nvPr/>
        </p:nvSpPr>
        <p:spPr>
          <a:xfrm>
            <a:off x="1398178" y="971004"/>
            <a:ext cx="9058939" cy="2308324"/>
          </a:xfrm>
          <a:prstGeom prst="rect">
            <a:avLst/>
          </a:prstGeom>
          <a:noFill/>
        </p:spPr>
        <p:txBody>
          <a:bodyPr wrap="square" rtlCol="0">
            <a:spAutoFit/>
          </a:bodyPr>
          <a:lstStyle/>
          <a:p>
            <a:pPr algn="just"/>
            <a:endParaRPr lang="en-NL" b="1" dirty="0"/>
          </a:p>
          <a:p>
            <a:pPr algn="just"/>
            <a:r>
              <a:rPr lang="en-GB" b="1" dirty="0"/>
              <a:t>In short: An AI system that automatically matches food supply with demand and available transport/storage in real time to reduce waste and make better use of shared logistics resources. </a:t>
            </a:r>
          </a:p>
          <a:p>
            <a:pPr algn="just"/>
            <a:endParaRPr lang="en-GB" b="1" dirty="0"/>
          </a:p>
          <a:p>
            <a:pPr algn="just"/>
            <a:endParaRPr lang="en-GB" sz="1400" dirty="0"/>
          </a:p>
          <a:p>
            <a:pPr algn="just"/>
            <a:endParaRPr lang="en-GB" b="1" dirty="0"/>
          </a:p>
          <a:p>
            <a:pPr algn="just"/>
            <a:endParaRPr lang="en-NL" b="1" dirty="0"/>
          </a:p>
        </p:txBody>
      </p:sp>
      <p:sp>
        <p:nvSpPr>
          <p:cNvPr id="6" name="TextBox 5">
            <a:extLst>
              <a:ext uri="{FF2B5EF4-FFF2-40B4-BE49-F238E27FC236}">
                <a16:creationId xmlns:a16="http://schemas.microsoft.com/office/drawing/2014/main" id="{F792C27B-EE40-E57D-3E4C-9F701DEA7AA2}"/>
              </a:ext>
            </a:extLst>
          </p:cNvPr>
          <p:cNvSpPr txBox="1"/>
          <p:nvPr/>
        </p:nvSpPr>
        <p:spPr>
          <a:xfrm>
            <a:off x="1398178" y="394038"/>
            <a:ext cx="9058939" cy="954107"/>
          </a:xfrm>
          <a:prstGeom prst="rect">
            <a:avLst/>
          </a:prstGeom>
          <a:noFill/>
        </p:spPr>
        <p:txBody>
          <a:bodyPr wrap="square" rtlCol="0">
            <a:spAutoFit/>
          </a:bodyPr>
          <a:lstStyle/>
          <a:p>
            <a:r>
              <a:rPr lang="en-US" sz="2800" dirty="0"/>
              <a:t>Project 2 - The development of a Proactive AI Chatbot</a:t>
            </a:r>
          </a:p>
          <a:p>
            <a:endParaRPr lang="en-NL" sz="2800" dirty="0"/>
          </a:p>
        </p:txBody>
      </p:sp>
      <p:cxnSp>
        <p:nvCxnSpPr>
          <p:cNvPr id="8" name="Straight Connector 7">
            <a:extLst>
              <a:ext uri="{FF2B5EF4-FFF2-40B4-BE49-F238E27FC236}">
                <a16:creationId xmlns:a16="http://schemas.microsoft.com/office/drawing/2014/main" id="{3A33CED5-5F84-1272-C7EE-B3E81DD98C0E}"/>
              </a:ext>
            </a:extLst>
          </p:cNvPr>
          <p:cNvCxnSpPr/>
          <p:nvPr/>
        </p:nvCxnSpPr>
        <p:spPr>
          <a:xfrm>
            <a:off x="1467290" y="1067664"/>
            <a:ext cx="8920713" cy="0"/>
          </a:xfrm>
          <a:prstGeom prst="line">
            <a:avLst/>
          </a:prstGeom>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21B4579B-5421-490A-8B52-8F13BDF20433}"/>
              </a:ext>
            </a:extLst>
          </p:cNvPr>
          <p:cNvSpPr txBox="1"/>
          <p:nvPr/>
        </p:nvSpPr>
        <p:spPr>
          <a:xfrm>
            <a:off x="1398178" y="1925111"/>
            <a:ext cx="9058939" cy="4431983"/>
          </a:xfrm>
          <a:prstGeom prst="rect">
            <a:avLst/>
          </a:prstGeom>
          <a:noFill/>
        </p:spPr>
        <p:txBody>
          <a:bodyPr wrap="square" rtlCol="0">
            <a:spAutoFit/>
          </a:bodyPr>
          <a:lstStyle/>
          <a:p>
            <a:pPr algn="just"/>
            <a:endParaRPr lang="en-NL" b="1" dirty="0"/>
          </a:p>
          <a:p>
            <a:pPr algn="just"/>
            <a:r>
              <a:rPr lang="en-US" sz="1400" dirty="0"/>
              <a:t>Context: A Proactive AI Chatbot, which “negotiates” the offer/supply on behalf of the supplier in relation to the available transport and storage capacity in the network. Principles of an "organically" driven short food chain network, in which the prevention of food waste (better matching supply and demand) and sharing economy are paramount. In addition to "sharing" and making optimal use of transport capacity, this also concerns, for example, the sharing of storage and/or retail locations, vending machines and effortless settlement and/or payment systems. With regard to the data required for this, the tool described in Project 1 can then be elaborated upon.”</a:t>
            </a:r>
          </a:p>
          <a:p>
            <a:pPr algn="just"/>
            <a:endParaRPr lang="en-US" dirty="0"/>
          </a:p>
          <a:p>
            <a:pPr algn="just"/>
            <a:r>
              <a:rPr lang="en-US" dirty="0"/>
              <a:t>Marks:</a:t>
            </a:r>
          </a:p>
          <a:p>
            <a:pPr marL="285750" indent="-285750" algn="just">
              <a:buFont typeface="Arial" panose="020B0604020202020204" pitchFamily="34" charset="0"/>
              <a:buChar char="•"/>
            </a:pPr>
            <a:r>
              <a:rPr lang="en-US" dirty="0"/>
              <a:t>Data required – is this specific to a company? </a:t>
            </a:r>
          </a:p>
          <a:p>
            <a:pPr marL="285750" indent="-285750" algn="just">
              <a:buFont typeface="Arial" panose="020B0604020202020204" pitchFamily="34" charset="0"/>
              <a:buChar char="•"/>
            </a:pPr>
            <a:r>
              <a:rPr lang="en-US" dirty="0"/>
              <a:t>MVP to test idea?</a:t>
            </a:r>
          </a:p>
          <a:p>
            <a:pPr marL="285750" indent="-285750" algn="just">
              <a:buFont typeface="Arial" panose="020B0604020202020204" pitchFamily="34" charset="0"/>
              <a:buChar char="•"/>
            </a:pPr>
            <a:r>
              <a:rPr lang="en-US" dirty="0"/>
              <a:t>Mock or historical data would be sufficient for </a:t>
            </a:r>
          </a:p>
          <a:p>
            <a:pPr algn="just"/>
            <a:r>
              <a:rPr lang="en-US" dirty="0"/>
              <a:t>       proof of concept.</a:t>
            </a:r>
          </a:p>
          <a:p>
            <a:pPr marL="285750" indent="-285750" algn="just">
              <a:buFont typeface="Arial" panose="020B0604020202020204" pitchFamily="34" charset="0"/>
              <a:buChar char="•"/>
            </a:pPr>
            <a:r>
              <a:rPr lang="en-US" dirty="0"/>
              <a:t>Need base features and then advanced features</a:t>
            </a:r>
          </a:p>
          <a:p>
            <a:pPr marL="742950" lvl="1" indent="-285750" algn="just">
              <a:buFont typeface="Arial" panose="020B0604020202020204" pitchFamily="34" charset="0"/>
              <a:buChar char="•"/>
            </a:pPr>
            <a:r>
              <a:rPr lang="en-US" dirty="0"/>
              <a:t>Chatbot – focus on communication with LLMs</a:t>
            </a:r>
          </a:p>
          <a:p>
            <a:pPr marL="742950" lvl="1" indent="-285750" algn="just">
              <a:buFont typeface="Arial" panose="020B0604020202020204" pitchFamily="34" charset="0"/>
              <a:buChar char="•"/>
            </a:pPr>
            <a:r>
              <a:rPr lang="en-US" dirty="0"/>
              <a:t>Logistic optimization (Chat to Mohsen and Arash)  </a:t>
            </a:r>
          </a:p>
          <a:p>
            <a:pPr marL="285750" indent="-285750" algn="just">
              <a:buFont typeface="Arial" panose="020B0604020202020204" pitchFamily="34" charset="0"/>
              <a:buChar char="•"/>
            </a:pPr>
            <a:endParaRPr lang="en-NL" dirty="0"/>
          </a:p>
        </p:txBody>
      </p:sp>
    </p:spTree>
    <p:extLst>
      <p:ext uri="{BB962C8B-B14F-4D97-AF65-F5344CB8AC3E}">
        <p14:creationId xmlns:p14="http://schemas.microsoft.com/office/powerpoint/2010/main" val="3574390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C87B0-4D74-4172-D791-0DCDAD556D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E87571-3A6B-0DE2-F823-84268F3B6558}"/>
              </a:ext>
            </a:extLst>
          </p:cNvPr>
          <p:cNvSpPr txBox="1"/>
          <p:nvPr/>
        </p:nvSpPr>
        <p:spPr>
          <a:xfrm>
            <a:off x="1467293" y="685547"/>
            <a:ext cx="9058939" cy="1754326"/>
          </a:xfrm>
          <a:prstGeom prst="rect">
            <a:avLst/>
          </a:prstGeom>
          <a:noFill/>
        </p:spPr>
        <p:txBody>
          <a:bodyPr wrap="square" rtlCol="0">
            <a:spAutoFit/>
          </a:bodyPr>
          <a:lstStyle/>
          <a:p>
            <a:pPr algn="just"/>
            <a:endParaRPr lang="en-NL" b="1" dirty="0"/>
          </a:p>
          <a:p>
            <a:pPr algn="just"/>
            <a:r>
              <a:rPr lang="en-GB" b="1" dirty="0"/>
              <a:t>In short: </a:t>
            </a:r>
            <a:r>
              <a:rPr lang="en-US" b="1" dirty="0"/>
              <a:t>Predicting order volumes based on product combinations within the short food chain and catering sector. With access to a rich dataset of approximately 800,000 historical orders, you will develop an AI model that provides better insight into expected volumes, with the aim of optimizing planning, logistics, and packaging flows</a:t>
            </a:r>
            <a:r>
              <a:rPr lang="en-GB" b="1" dirty="0"/>
              <a:t>. </a:t>
            </a:r>
            <a:endParaRPr lang="en-NL" b="1" dirty="0"/>
          </a:p>
        </p:txBody>
      </p:sp>
      <p:sp>
        <p:nvSpPr>
          <p:cNvPr id="6" name="TextBox 5">
            <a:extLst>
              <a:ext uri="{FF2B5EF4-FFF2-40B4-BE49-F238E27FC236}">
                <a16:creationId xmlns:a16="http://schemas.microsoft.com/office/drawing/2014/main" id="{CE054AC7-F90A-14A5-EF4C-ECD751B9F497}"/>
              </a:ext>
            </a:extLst>
          </p:cNvPr>
          <p:cNvSpPr txBox="1"/>
          <p:nvPr/>
        </p:nvSpPr>
        <p:spPr>
          <a:xfrm>
            <a:off x="1329067" y="208494"/>
            <a:ext cx="9058939" cy="954107"/>
          </a:xfrm>
          <a:prstGeom prst="rect">
            <a:avLst/>
          </a:prstGeom>
          <a:noFill/>
        </p:spPr>
        <p:txBody>
          <a:bodyPr wrap="square" rtlCol="0">
            <a:spAutoFit/>
          </a:bodyPr>
          <a:lstStyle/>
          <a:p>
            <a:r>
              <a:rPr lang="en-US" sz="2800" dirty="0"/>
              <a:t>Project 3 – Forecasting tool</a:t>
            </a:r>
          </a:p>
          <a:p>
            <a:endParaRPr lang="en-NL" sz="2800" dirty="0"/>
          </a:p>
        </p:txBody>
      </p:sp>
      <p:cxnSp>
        <p:nvCxnSpPr>
          <p:cNvPr id="8" name="Straight Connector 7">
            <a:extLst>
              <a:ext uri="{FF2B5EF4-FFF2-40B4-BE49-F238E27FC236}">
                <a16:creationId xmlns:a16="http://schemas.microsoft.com/office/drawing/2014/main" id="{E600E747-E761-DA29-9607-B12166A5D492}"/>
              </a:ext>
            </a:extLst>
          </p:cNvPr>
          <p:cNvCxnSpPr/>
          <p:nvPr/>
        </p:nvCxnSpPr>
        <p:spPr>
          <a:xfrm>
            <a:off x="1467293" y="822338"/>
            <a:ext cx="8920713" cy="0"/>
          </a:xfrm>
          <a:prstGeom prst="line">
            <a:avLst/>
          </a:prstGeom>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B2EBD52A-0913-E219-D97D-42434379959F}"/>
              </a:ext>
            </a:extLst>
          </p:cNvPr>
          <p:cNvSpPr txBox="1"/>
          <p:nvPr/>
        </p:nvSpPr>
        <p:spPr>
          <a:xfrm>
            <a:off x="1398178" y="2650836"/>
            <a:ext cx="9058939" cy="2031325"/>
          </a:xfrm>
          <a:prstGeom prst="rect">
            <a:avLst/>
          </a:prstGeom>
          <a:noFill/>
        </p:spPr>
        <p:txBody>
          <a:bodyPr wrap="square" rtlCol="0">
            <a:spAutoFit/>
          </a:bodyPr>
          <a:lstStyle/>
          <a:p>
            <a:pPr algn="just"/>
            <a:endParaRPr lang="en-NL" b="1" dirty="0"/>
          </a:p>
          <a:p>
            <a:pPr algn="just"/>
            <a:r>
              <a:rPr lang="en-US" dirty="0"/>
              <a:t>Remarks:</a:t>
            </a:r>
          </a:p>
          <a:p>
            <a:pPr marL="285750" indent="-285750" algn="just">
              <a:buFont typeface="Arial" panose="020B0604020202020204" pitchFamily="34" charset="0"/>
              <a:buChar char="•"/>
            </a:pPr>
            <a:r>
              <a:rPr lang="en-US" dirty="0"/>
              <a:t>Data required – is this specific to a company? </a:t>
            </a:r>
          </a:p>
          <a:p>
            <a:pPr marL="285750" indent="-285750" algn="just">
              <a:buFont typeface="Arial" panose="020B0604020202020204" pitchFamily="34" charset="0"/>
              <a:buChar char="•"/>
            </a:pPr>
            <a:r>
              <a:rPr lang="en-US" dirty="0"/>
              <a:t>MVP to test idea?</a:t>
            </a:r>
          </a:p>
          <a:p>
            <a:pPr marL="285750" indent="-285750" algn="just">
              <a:buFont typeface="Arial" panose="020B0604020202020204" pitchFamily="34" charset="0"/>
              <a:buChar char="•"/>
            </a:pPr>
            <a:r>
              <a:rPr lang="en-US" dirty="0"/>
              <a:t>Mock or historical data would be sufficient for </a:t>
            </a:r>
          </a:p>
          <a:p>
            <a:pPr algn="just"/>
            <a:r>
              <a:rPr lang="en-US" dirty="0"/>
              <a:t>       proof of concept.</a:t>
            </a:r>
          </a:p>
          <a:p>
            <a:pPr marL="285750" indent="-285750" algn="just">
              <a:buFont typeface="Arial" panose="020B0604020202020204" pitchFamily="34" charset="0"/>
              <a:buChar char="•"/>
            </a:pPr>
            <a:r>
              <a:rPr lang="en-US" dirty="0"/>
              <a:t>Need base features and then advanced features</a:t>
            </a:r>
          </a:p>
        </p:txBody>
      </p:sp>
    </p:spTree>
    <p:extLst>
      <p:ext uri="{BB962C8B-B14F-4D97-AF65-F5344CB8AC3E}">
        <p14:creationId xmlns:p14="http://schemas.microsoft.com/office/powerpoint/2010/main" val="2863893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871E5-D34C-B275-0E01-9B4656B0BD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6DF427-5CBD-F910-6612-C4ABA99FC902}"/>
              </a:ext>
            </a:extLst>
          </p:cNvPr>
          <p:cNvSpPr txBox="1"/>
          <p:nvPr/>
        </p:nvSpPr>
        <p:spPr>
          <a:xfrm>
            <a:off x="1467293" y="685547"/>
            <a:ext cx="9058939" cy="646331"/>
          </a:xfrm>
          <a:prstGeom prst="rect">
            <a:avLst/>
          </a:prstGeom>
          <a:noFill/>
        </p:spPr>
        <p:txBody>
          <a:bodyPr wrap="square" rtlCol="0">
            <a:spAutoFit/>
          </a:bodyPr>
          <a:lstStyle/>
          <a:p>
            <a:pPr algn="just"/>
            <a:endParaRPr lang="en-NL" b="1" dirty="0"/>
          </a:p>
          <a:p>
            <a:pPr algn="just"/>
            <a:r>
              <a:rPr lang="en-GB" b="1" dirty="0"/>
              <a:t>In short: further develop the Customer Service AI chatbot</a:t>
            </a:r>
            <a:endParaRPr lang="en-NL" b="1" dirty="0"/>
          </a:p>
        </p:txBody>
      </p:sp>
      <p:sp>
        <p:nvSpPr>
          <p:cNvPr id="6" name="TextBox 5">
            <a:extLst>
              <a:ext uri="{FF2B5EF4-FFF2-40B4-BE49-F238E27FC236}">
                <a16:creationId xmlns:a16="http://schemas.microsoft.com/office/drawing/2014/main" id="{96BB8EF1-34D3-365F-B241-18202B4FEC06}"/>
              </a:ext>
            </a:extLst>
          </p:cNvPr>
          <p:cNvSpPr txBox="1"/>
          <p:nvPr/>
        </p:nvSpPr>
        <p:spPr>
          <a:xfrm>
            <a:off x="1329067" y="208494"/>
            <a:ext cx="9058939" cy="954107"/>
          </a:xfrm>
          <a:prstGeom prst="rect">
            <a:avLst/>
          </a:prstGeom>
          <a:noFill/>
        </p:spPr>
        <p:txBody>
          <a:bodyPr wrap="square" rtlCol="0">
            <a:spAutoFit/>
          </a:bodyPr>
          <a:lstStyle/>
          <a:p>
            <a:r>
              <a:rPr lang="en-US" sz="2800" dirty="0"/>
              <a:t>Challenge – Customer service AI chatbot</a:t>
            </a:r>
          </a:p>
          <a:p>
            <a:endParaRPr lang="en-NL" sz="2800" dirty="0"/>
          </a:p>
        </p:txBody>
      </p:sp>
      <p:cxnSp>
        <p:nvCxnSpPr>
          <p:cNvPr id="8" name="Straight Connector 7">
            <a:extLst>
              <a:ext uri="{FF2B5EF4-FFF2-40B4-BE49-F238E27FC236}">
                <a16:creationId xmlns:a16="http://schemas.microsoft.com/office/drawing/2014/main" id="{E88FABA0-EB00-03AA-F7F0-5606F836A390}"/>
              </a:ext>
            </a:extLst>
          </p:cNvPr>
          <p:cNvCxnSpPr/>
          <p:nvPr/>
        </p:nvCxnSpPr>
        <p:spPr>
          <a:xfrm>
            <a:off x="1467293" y="822338"/>
            <a:ext cx="8920713" cy="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69003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TotalTime>
  <Words>657</Words>
  <Application>Microsoft Office PowerPoint</Application>
  <PresentationFormat>Widescreen</PresentationFormat>
  <Paragraphs>45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Indermun, Shival</dc:creator>
  <cp:lastModifiedBy>Kole, Peter</cp:lastModifiedBy>
  <cp:revision>4</cp:revision>
  <dcterms:created xsi:type="dcterms:W3CDTF">2025-11-23T14:39:49Z</dcterms:created>
  <dcterms:modified xsi:type="dcterms:W3CDTF">2026-03-16T15:59:21Z</dcterms:modified>
</cp:coreProperties>
</file>